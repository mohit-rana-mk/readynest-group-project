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21"/>
    <p:sldId id="260" r:id="rId6"/>
    <p:sldId id="267" r:id="rId18"/>
    <p:sldId id="261" r:id="rId7"/>
    <p:sldId id="262" r:id="rId8"/>
    <p:sldId id="263" r:id="rId9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2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ref_arch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5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B7A8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2FC3A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READYNEST  ·  TEAM CODETITANS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HealTrackAI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AI Engine — Platform Update &amp; Phase 3 Roadmap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194560" cy="0"/>
          </a:xfrm>
          <a:prstGeom prst="line">
            <a:avLst/>
          </a:prstGeom>
          <a:noFill/>
          <a:ln w="31750">
            <a:solidFill>
              <a:srgbClr val="2FC3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Release Summary  •  ML Model Progress  •  Clinical AI Architecture  •  7-Day Delivery Plan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82880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0" y="190195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Update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0" y="187452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shipped and bugs resolved this cycle across the patient, clinic and admin portals.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944368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944368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86000" y="3017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Progress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0" y="2990088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engine's clinical reasoning evolved from generic replies to context-aware guidance.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059936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4059936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286000" y="413308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AI Engine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4105656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architecture, data flow and the medical knowledge base powering 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5175504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5175504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286000" y="524865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Plan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0" y="5221224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ownership, the 7-day build timeline and the goal for this phase.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822960" y="365760"/>
            <a:ext cx="600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7A8C"/>
                </a:solidFill>
                <a:latin typeface="Calibri" pitchFamily="34" charset="0"/>
              </a:rPr>
              <a:t>PRODUCT UPDATE</a:t>
            </a:r>
          </a:p>
        </p:txBody>
      </p:sp>
      <p:sp>
        <p:nvSpPr>
          <p:cNvPr id="3" name="Title"/>
          <p:cNvSpPr/>
          <p:nvPr/>
        </p:nvSpPr>
        <p:spPr>
          <a:xfrm>
            <a:off x="822960" y="7200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552"/>
                </a:solidFill>
                <a:latin typeface="Calibri" pitchFamily="34" charset="0"/>
              </a:rPr>
              <a:t>Features shipped this cycle</a:t>
            </a:r>
          </a:p>
        </p:txBody>
      </p:sp>
      <p:sp>
        <p:nvSpPr>
          <p:cNvPr id="4" name="Subtitle"/>
          <p:cNvSpPr/>
          <p:nvPr/>
        </p:nvSpPr>
        <p:spPr>
          <a:xfrm>
            <a:off x="822960" y="1310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5"/>
                </a:solidFill>
                <a:latin typeface="Calibri" pitchFamily="34" charset="0"/>
              </a:rPr>
              <a:t>Across patient, reception, clinic-admin and super-admin portals.</a:t>
            </a:r>
          </a:p>
        </p:txBody>
      </p:sp>
      <p:sp>
        <p:nvSpPr>
          <p:cNvPr id="10" name="Card0"/>
          <p:cNvSpPr/>
          <p:nvPr/>
        </p:nvSpPr>
        <p:spPr>
          <a:xfrm>
            <a:off x="822960" y="1750000"/>
            <a:ext cx="3315360" cy="134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Badge0"/>
          <p:cNvSpPr/>
          <p:nvPr/>
        </p:nvSpPr>
        <p:spPr>
          <a:xfrm>
            <a:off x="1002960" y="1930000"/>
            <a:ext cx="300000" cy="300000"/>
          </a:xfrm>
          <a:prstGeom prst="ellipse">
            <a:avLst/>
          </a:prstGeom>
          <a:solidFill>
            <a:srgbClr val="2FC3A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2" name="CardTitle0"/>
          <p:cNvSpPr/>
          <p:nvPr/>
        </p:nvSpPr>
        <p:spPr>
          <a:xfrm>
            <a:off x="1002960" y="2300000"/>
            <a:ext cx="2955360" cy="32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3552"/>
                </a:solidFill>
                <a:latin typeface="Calibri" pitchFamily="34" charset="0"/>
              </a:rPr>
              <a:t>In-App Video Conferencing</a:t>
            </a:r>
          </a:p>
        </p:txBody>
      </p:sp>
      <p:sp>
        <p:nvSpPr>
          <p:cNvPr id="13" name="CardDesc0"/>
          <p:cNvSpPr/>
          <p:nvPr/>
        </p:nvSpPr>
        <p:spPr>
          <a:xfrm>
            <a:off x="1002960" y="2640000"/>
            <a:ext cx="2955360" cy="27000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0000" lnSpcReduction="10000"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</a:rPr>
              <a:t>Native consultation calls — no third-party dependency.</a:t>
            </a:r>
          </a:p>
        </p:txBody>
      </p:sp>
      <p:sp>
        <p:nvSpPr>
          <p:cNvPr id="20" name="Card1"/>
          <p:cNvSpPr/>
          <p:nvPr/>
        </p:nvSpPr>
        <p:spPr>
          <a:xfrm>
            <a:off x="4438320" y="1750000"/>
            <a:ext cx="3315360" cy="134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Badge1"/>
          <p:cNvSpPr/>
          <p:nvPr/>
        </p:nvSpPr>
        <p:spPr>
          <a:xfrm>
            <a:off x="4618320" y="1930000"/>
            <a:ext cx="300000" cy="300000"/>
          </a:xfrm>
          <a:prstGeom prst="ellipse">
            <a:avLst/>
          </a:prstGeom>
          <a:solidFill>
            <a:srgbClr val="2FC3A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2" name="CardTitle1"/>
          <p:cNvSpPr/>
          <p:nvPr/>
        </p:nvSpPr>
        <p:spPr>
          <a:xfrm>
            <a:off x="4618320" y="2300000"/>
            <a:ext cx="2955360" cy="32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3552"/>
                </a:solidFill>
                <a:latin typeface="Calibri" pitchFamily="34" charset="0"/>
              </a:rPr>
              <a:t>Broadcast from Clinic</a:t>
            </a:r>
          </a:p>
        </p:txBody>
      </p:sp>
      <p:sp>
        <p:nvSpPr>
          <p:cNvPr id="23" name="CardDesc1"/>
          <p:cNvSpPr/>
          <p:nvPr/>
        </p:nvSpPr>
        <p:spPr>
          <a:xfrm>
            <a:off x="4618320" y="2640000"/>
            <a:ext cx="2955360" cy="27000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0000" lnSpcReduction="10000"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</a:rPr>
              <a:t>Clinics can now broadcast announcements directly to patients.</a:t>
            </a:r>
          </a:p>
        </p:txBody>
      </p:sp>
      <p:sp>
        <p:nvSpPr>
          <p:cNvPr id="30" name="Card2"/>
          <p:cNvSpPr/>
          <p:nvPr/>
        </p:nvSpPr>
        <p:spPr>
          <a:xfrm>
            <a:off x="8053680" y="1750000"/>
            <a:ext cx="3315360" cy="134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Badge2"/>
          <p:cNvSpPr/>
          <p:nvPr/>
        </p:nvSpPr>
        <p:spPr>
          <a:xfrm>
            <a:off x="8233680" y="1930000"/>
            <a:ext cx="300000" cy="300000"/>
          </a:xfrm>
          <a:prstGeom prst="ellipse">
            <a:avLst/>
          </a:prstGeom>
          <a:solidFill>
            <a:srgbClr val="2FC3A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2" name="CardTitle2"/>
          <p:cNvSpPr/>
          <p:nvPr/>
        </p:nvSpPr>
        <p:spPr>
          <a:xfrm>
            <a:off x="8233680" y="2300000"/>
            <a:ext cx="2955360" cy="32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3552"/>
                </a:solidFill>
                <a:latin typeface="Calibri" pitchFamily="34" charset="0"/>
              </a:rPr>
              <a:t>Admin Oversight Controls</a:t>
            </a:r>
          </a:p>
        </p:txBody>
      </p:sp>
      <p:sp>
        <p:nvSpPr>
          <p:cNvPr id="33" name="CardDesc2"/>
          <p:cNvSpPr/>
          <p:nvPr/>
        </p:nvSpPr>
        <p:spPr>
          <a:xfrm>
            <a:off x="8233680" y="2640000"/>
            <a:ext cx="2955360" cy="27000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0000" lnSpcReduction="10000"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</a:rPr>
              <a:t>Admins can view/suspend patients &amp; clinics, and manage a clinic’s doctors &amp; departments.</a:t>
            </a:r>
          </a:p>
        </p:txBody>
      </p:sp>
      <p:sp>
        <p:nvSpPr>
          <p:cNvPr id="40" name="Card3"/>
          <p:cNvSpPr/>
          <p:nvPr/>
        </p:nvSpPr>
        <p:spPr>
          <a:xfrm>
            <a:off x="822960" y="3340000"/>
            <a:ext cx="3315360" cy="134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Badge3"/>
          <p:cNvSpPr/>
          <p:nvPr/>
        </p:nvSpPr>
        <p:spPr>
          <a:xfrm>
            <a:off x="1002960" y="3520000"/>
            <a:ext cx="300000" cy="300000"/>
          </a:xfrm>
          <a:prstGeom prst="ellipse">
            <a:avLst/>
          </a:prstGeom>
          <a:solidFill>
            <a:srgbClr val="2FC3A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42" name="CardTitle3"/>
          <p:cNvSpPr/>
          <p:nvPr/>
        </p:nvSpPr>
        <p:spPr>
          <a:xfrm>
            <a:off x="1002960" y="3890000"/>
            <a:ext cx="2955360" cy="32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3552"/>
                </a:solidFill>
                <a:latin typeface="Calibri" pitchFamily="34" charset="0"/>
              </a:rPr>
              <a:t>Flexible Payments</a:t>
            </a:r>
          </a:p>
        </p:txBody>
      </p:sp>
      <p:sp>
        <p:nvSpPr>
          <p:cNvPr id="43" name="CardDesc3"/>
          <p:cNvSpPr/>
          <p:nvPr/>
        </p:nvSpPr>
        <p:spPr>
          <a:xfrm>
            <a:off x="1002960" y="4230000"/>
            <a:ext cx="2955360" cy="27000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0000" lnSpcReduction="10000"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</a:rPr>
              <a:t>Cash or online (Razorpay) at reception, plus pay-at-counter / pay-online for in-person visits.</a:t>
            </a:r>
          </a:p>
        </p:txBody>
      </p:sp>
      <p:sp>
        <p:nvSpPr>
          <p:cNvPr id="50" name="Card4"/>
          <p:cNvSpPr/>
          <p:nvPr/>
        </p:nvSpPr>
        <p:spPr>
          <a:xfrm>
            <a:off x="4438320" y="3340000"/>
            <a:ext cx="3315360" cy="134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Badge4"/>
          <p:cNvSpPr/>
          <p:nvPr/>
        </p:nvSpPr>
        <p:spPr>
          <a:xfrm>
            <a:off x="4618320" y="3520000"/>
            <a:ext cx="300000" cy="300000"/>
          </a:xfrm>
          <a:prstGeom prst="ellipse">
            <a:avLst/>
          </a:prstGeom>
          <a:solidFill>
            <a:srgbClr val="2FC3A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52" name="CardTitle4"/>
          <p:cNvSpPr/>
          <p:nvPr/>
        </p:nvSpPr>
        <p:spPr>
          <a:xfrm>
            <a:off x="4618320" y="3890000"/>
            <a:ext cx="2955360" cy="32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3552"/>
                </a:solidFill>
                <a:latin typeface="Calibri" pitchFamily="34" charset="0"/>
              </a:rPr>
              <a:t>Cancel &amp; Reschedule</a:t>
            </a:r>
          </a:p>
        </p:txBody>
      </p:sp>
      <p:sp>
        <p:nvSpPr>
          <p:cNvPr id="53" name="CardDesc4"/>
          <p:cNvSpPr/>
          <p:nvPr/>
        </p:nvSpPr>
        <p:spPr>
          <a:xfrm>
            <a:off x="4618320" y="4230000"/>
            <a:ext cx="2955360" cy="27000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0000" lnSpcReduction="10000"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</a:rPr>
              <a:t>Patient-side cancel/reschedule with an automatic refund request to admin.</a:t>
            </a:r>
          </a:p>
        </p:txBody>
      </p:sp>
      <p:sp>
        <p:nvSpPr>
          <p:cNvPr id="60" name="Card5"/>
          <p:cNvSpPr/>
          <p:nvPr/>
        </p:nvSpPr>
        <p:spPr>
          <a:xfrm>
            <a:off x="8053680" y="3340000"/>
            <a:ext cx="3315360" cy="134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Badge5"/>
          <p:cNvSpPr/>
          <p:nvPr/>
        </p:nvSpPr>
        <p:spPr>
          <a:xfrm>
            <a:off x="8233680" y="3520000"/>
            <a:ext cx="300000" cy="300000"/>
          </a:xfrm>
          <a:prstGeom prst="ellipse">
            <a:avLst/>
          </a:prstGeom>
          <a:solidFill>
            <a:srgbClr val="2FC3A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62" name="CardTitle5"/>
          <p:cNvSpPr/>
          <p:nvPr/>
        </p:nvSpPr>
        <p:spPr>
          <a:xfrm>
            <a:off x="8233680" y="3890000"/>
            <a:ext cx="2955360" cy="32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3552"/>
                </a:solidFill>
                <a:latin typeface="Calibri" pitchFamily="34" charset="0"/>
              </a:rPr>
              <a:t>Google Sign-In</a:t>
            </a:r>
          </a:p>
        </p:txBody>
      </p:sp>
      <p:sp>
        <p:nvSpPr>
          <p:cNvPr id="63" name="CardDesc5"/>
          <p:cNvSpPr/>
          <p:nvPr/>
        </p:nvSpPr>
        <p:spPr>
          <a:xfrm>
            <a:off x="8233680" y="4230000"/>
            <a:ext cx="2955360" cy="27000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0000" lnSpcReduction="10000"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</a:rPr>
              <a:t>Firebase-based Google authentication added for patients.</a:t>
            </a:r>
          </a:p>
        </p:txBody>
      </p:sp>
      <p:sp>
        <p:nvSpPr>
          <p:cNvPr id="70" name="Card6"/>
          <p:cNvSpPr/>
          <p:nvPr/>
        </p:nvSpPr>
        <p:spPr>
          <a:xfrm>
            <a:off x="822960" y="4930000"/>
            <a:ext cx="3315360" cy="134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Badge6"/>
          <p:cNvSpPr/>
          <p:nvPr/>
        </p:nvSpPr>
        <p:spPr>
          <a:xfrm>
            <a:off x="1002960" y="5110000"/>
            <a:ext cx="300000" cy="300000"/>
          </a:xfrm>
          <a:prstGeom prst="ellipse">
            <a:avLst/>
          </a:prstGeom>
          <a:solidFill>
            <a:srgbClr val="2FC3A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72" name="CardTitle6"/>
          <p:cNvSpPr/>
          <p:nvPr/>
        </p:nvSpPr>
        <p:spPr>
          <a:xfrm>
            <a:off x="1002960" y="5480000"/>
            <a:ext cx="2955360" cy="32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3552"/>
                </a:solidFill>
                <a:latin typeface="Calibri" pitchFamily="34" charset="0"/>
              </a:rPr>
              <a:t>Editable Profiles</a:t>
            </a:r>
          </a:p>
        </p:txBody>
      </p:sp>
      <p:sp>
        <p:nvSpPr>
          <p:cNvPr id="73" name="CardDesc6"/>
          <p:cNvSpPr/>
          <p:nvPr/>
        </p:nvSpPr>
        <p:spPr>
          <a:xfrm>
            <a:off x="1002960" y="5820000"/>
            <a:ext cx="2955360" cy="27000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0000" lnSpcReduction="10000"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</a:rPr>
              <a:t>Patients can now edit their details and upload a profile photo.</a:t>
            </a:r>
          </a:p>
        </p:txBody>
      </p:sp>
      <p:sp>
        <p:nvSpPr>
          <p:cNvPr id="80" name="Card7"/>
          <p:cNvSpPr/>
          <p:nvPr/>
        </p:nvSpPr>
        <p:spPr>
          <a:xfrm>
            <a:off x="4438320" y="4930000"/>
            <a:ext cx="3315360" cy="134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1" name="Badge7"/>
          <p:cNvSpPr/>
          <p:nvPr/>
        </p:nvSpPr>
        <p:spPr>
          <a:xfrm>
            <a:off x="4618320" y="5110000"/>
            <a:ext cx="300000" cy="300000"/>
          </a:xfrm>
          <a:prstGeom prst="ellipse">
            <a:avLst/>
          </a:prstGeom>
          <a:solidFill>
            <a:srgbClr val="2FC3A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8</a:t>
            </a:r>
          </a:p>
        </p:txBody>
      </p:sp>
      <p:sp>
        <p:nvSpPr>
          <p:cNvPr id="82" name="CardTitle7"/>
          <p:cNvSpPr/>
          <p:nvPr/>
        </p:nvSpPr>
        <p:spPr>
          <a:xfrm>
            <a:off x="4618320" y="5480000"/>
            <a:ext cx="2955360" cy="32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3552"/>
                </a:solidFill>
                <a:latin typeface="Calibri" pitchFamily="34" charset="0"/>
              </a:rPr>
              <a:t>Smarter Validation</a:t>
            </a:r>
          </a:p>
        </p:txBody>
      </p:sp>
      <p:sp>
        <p:nvSpPr>
          <p:cNvPr id="83" name="CardDesc7"/>
          <p:cNvSpPr/>
          <p:nvPr/>
        </p:nvSpPr>
        <p:spPr>
          <a:xfrm>
            <a:off x="4618320" y="5820000"/>
            <a:ext cx="2955360" cy="27000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0000" lnSpcReduction="10000"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</a:rPr>
              <a:t>Enforced email format, strong passwords, valid DOB and country-correct mobile numbers.</a:t>
            </a:r>
          </a:p>
        </p:txBody>
      </p:sp>
      <p:sp>
        <p:nvSpPr>
          <p:cNvPr id="90" name="Card8"/>
          <p:cNvSpPr/>
          <p:nvPr/>
        </p:nvSpPr>
        <p:spPr>
          <a:xfrm>
            <a:off x="8053680" y="4930000"/>
            <a:ext cx="3315360" cy="134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1" name="Badge8"/>
          <p:cNvSpPr/>
          <p:nvPr/>
        </p:nvSpPr>
        <p:spPr>
          <a:xfrm>
            <a:off x="8233680" y="5110000"/>
            <a:ext cx="300000" cy="300000"/>
          </a:xfrm>
          <a:prstGeom prst="ellipse">
            <a:avLst/>
          </a:prstGeom>
          <a:solidFill>
            <a:srgbClr val="2FC3A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9</a:t>
            </a:r>
          </a:p>
        </p:txBody>
      </p:sp>
      <p:sp>
        <p:nvSpPr>
          <p:cNvPr id="92" name="CardTitle8"/>
          <p:cNvSpPr/>
          <p:nvPr/>
        </p:nvSpPr>
        <p:spPr>
          <a:xfrm>
            <a:off x="8233680" y="5480000"/>
            <a:ext cx="2955360" cy="32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3552"/>
                </a:solidFill>
                <a:latin typeface="Calibri" pitchFamily="34" charset="0"/>
              </a:rPr>
              <a:t>Improved Parkinson Disease Detector</a:t>
            </a:r>
          </a:p>
        </p:txBody>
      </p:sp>
      <p:sp>
        <p:nvSpPr>
          <p:cNvPr id="93" name="CardDesc8"/>
          <p:cNvSpPr/>
          <p:nvPr/>
        </p:nvSpPr>
        <p:spPr>
          <a:xfrm>
            <a:off x="8233680" y="5820000"/>
            <a:ext cx="2955360" cy="27000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0000" lnSpcReduction="10000"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</a:rPr>
              <a:t>Higher detection accuracy, rebuilt on the updated ML model.</a:t>
            </a:r>
          </a:p>
        </p:txBody>
      </p:sp>
      <p:sp>
        <p:nvSpPr>
          <p:cNvPr id="45" name="Text 4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</a:rPr>
              <a:t>03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UPDATE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 &amp; reliability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Data-integrity and portal-behaviour issues resolved across the platform.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246120" cy="41605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94560"/>
            <a:ext cx="82296" cy="384048"/>
          </a:xfrm>
          <a:prstGeom prst="roundRect">
            <a:avLst/>
          </a:prstGeom>
          <a:solidFill>
            <a:srgbClr val="2FC3A6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1488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&amp;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7432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89888" y="2743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8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count bug fixed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51560" y="3584448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89888" y="358444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8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add (no email/password) bug fixed in super admin portal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51560" y="4425696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89888" y="4425696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8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 history shown on mobile — fixed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51560" y="5266944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89888" y="5266944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8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earnings/settlement data for new clinic-admins — fixed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16552" y="1965960"/>
            <a:ext cx="3246120" cy="41605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2194560"/>
            <a:ext cx="82296" cy="384048"/>
          </a:xfrm>
          <a:prstGeom prst="roundRect">
            <a:avLst/>
          </a:prstGeom>
          <a:solidFill>
            <a:srgbClr val="2FC3A6"/>
          </a:solidFill>
          <a:ln/>
        </p:spPr>
      </p:sp>
      <p:sp>
        <p:nvSpPr>
          <p:cNvPr id="18" name="Text 16"/>
          <p:cNvSpPr/>
          <p:nvPr/>
        </p:nvSpPr>
        <p:spPr>
          <a:xfrm>
            <a:off x="4828032" y="21488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&amp; Records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45152" y="27432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2743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8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not showing payment status — fixed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45152" y="3584448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58444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8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appointments still showing on doctor dashboard — fixed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45152" y="4425696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4425696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8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vitals (e.g. random blood sugar) for new patients — fixed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45152" y="5266944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5266944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8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left in the transaction ledger — fixed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10144" y="1965960"/>
            <a:ext cx="3246120" cy="41605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38744" y="2194560"/>
            <a:ext cx="82296" cy="384048"/>
          </a:xfrm>
          <a:prstGeom prst="roundRect">
            <a:avLst/>
          </a:prstGeom>
          <a:solidFill>
            <a:srgbClr val="2FC3A6"/>
          </a:solidFill>
          <a:ln/>
        </p:spPr>
      </p:sp>
      <p:sp>
        <p:nvSpPr>
          <p:cNvPr id="29" name="Text 27"/>
          <p:cNvSpPr/>
          <p:nvPr/>
        </p:nvSpPr>
        <p:spPr>
          <a:xfrm>
            <a:off x="8421624" y="21488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38744" y="27432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77072" y="2743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8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format validation enforced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38744" y="3584448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77072" y="358444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8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password policy: 6+ chars, upper, lower, digit, special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238744" y="4425696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77072" y="4425696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8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 can no longer be set to a future date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238744" y="5266944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77072" y="5266944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8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number validated against country code (e.g. +91 → 10 digits)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822960" y="365760"/>
            <a:ext cx="600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7A8C"/>
                </a:solidFill>
                <a:latin typeface="Calibri" pitchFamily="34" charset="0"/>
              </a:rPr>
              <a:t>TEAM NOTES</a:t>
            </a:r>
          </a:p>
        </p:txBody>
      </p:sp>
      <p:sp>
        <p:nvSpPr>
          <p:cNvPr id="3" name="Title"/>
          <p:cNvSpPr/>
          <p:nvPr/>
        </p:nvSpPr>
        <p:spPr>
          <a:xfrm>
            <a:off x="822960" y="777240"/>
            <a:ext cx="1054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552"/>
                </a:solidFill>
                <a:latin typeface="Calibri" pitchFamily="34" charset="0"/>
              </a:rPr>
              <a:t>Some changes apart the project changes</a:t>
            </a:r>
          </a:p>
        </p:txBody>
      </p:sp>
      <p:sp>
        <p:nvSpPr>
          <p:cNvPr id="4" name="Subtitle"/>
          <p:cNvSpPr/>
          <p:nvPr/>
        </p:nvSpPr>
        <p:spPr>
          <a:xfrm>
            <a:off x="822960" y="14000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</a:rPr>
              <a:t>Additional development work happening alongside the core AI-Engine build.</a:t>
            </a:r>
          </a:p>
        </p:txBody>
      </p:sp>
      <p:sp>
        <p:nvSpPr>
          <p:cNvPr id="100" name="Card0"/>
          <p:cNvSpPr/>
          <p:nvPr/>
        </p:nvSpPr>
        <p:spPr>
          <a:xfrm>
            <a:off x="682960" y="1810000"/>
            <a:ext cx="5353040" cy="11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Card1"/>
          <p:cNvSpPr/>
          <p:nvPr/>
        </p:nvSpPr>
        <p:spPr>
          <a:xfrm>
            <a:off x="682960" y="3110000"/>
            <a:ext cx="5353040" cy="11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" name="Card2"/>
          <p:cNvSpPr/>
          <p:nvPr/>
        </p:nvSpPr>
        <p:spPr>
          <a:xfrm>
            <a:off x="682960" y="4410000"/>
            <a:ext cx="5353040" cy="11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3" name="Card3"/>
          <p:cNvSpPr/>
          <p:nvPr/>
        </p:nvSpPr>
        <p:spPr>
          <a:xfrm>
            <a:off x="6156000" y="1810000"/>
            <a:ext cx="5353040" cy="11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Card4"/>
          <p:cNvSpPr/>
          <p:nvPr/>
        </p:nvSpPr>
        <p:spPr>
          <a:xfrm>
            <a:off x="6156000" y="3110000"/>
            <a:ext cx="5353040" cy="11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5" name="Card5"/>
          <p:cNvSpPr/>
          <p:nvPr/>
        </p:nvSpPr>
        <p:spPr>
          <a:xfrm>
            <a:off x="6156000" y="4410000"/>
            <a:ext cx="5353040" cy="11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Badge1"/>
          <p:cNvSpPr/>
          <p:nvPr/>
        </p:nvSpPr>
        <p:spPr>
          <a:xfrm>
            <a:off x="822960" y="2150000"/>
            <a:ext cx="500000" cy="500000"/>
          </a:xfrm>
          <a:prstGeom prst="ellipse">
            <a:avLst/>
          </a:prstGeom>
          <a:solidFill>
            <a:srgbClr val="1B7A8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6" name="Item1Text"/>
          <p:cNvSpPr txBox="1"/>
          <p:nvPr/>
        </p:nvSpPr>
        <p:spPr>
          <a:xfrm>
            <a:off x="1572960" y="1950000"/>
            <a:ext cx="432304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13D44"/>
                </a:solidFill>
                <a:latin typeface="Calibri" pitchFamily="34" charset="0"/>
              </a:rPr>
              <a:t>Professional app audit for a better understanding of the app</a:t>
            </a:r>
          </a:p>
        </p:txBody>
      </p:sp>
      <p:sp>
        <p:nvSpPr>
          <p:cNvPr id="7" name="Badge2"/>
          <p:cNvSpPr/>
          <p:nvPr/>
        </p:nvSpPr>
        <p:spPr>
          <a:xfrm>
            <a:off x="822960" y="3450000"/>
            <a:ext cx="500000" cy="500000"/>
          </a:xfrm>
          <a:prstGeom prst="ellipse">
            <a:avLst/>
          </a:prstGeom>
          <a:solidFill>
            <a:srgbClr val="1B7A8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8" name="Item2Text"/>
          <p:cNvSpPr txBox="1"/>
          <p:nvPr/>
        </p:nvSpPr>
        <p:spPr>
          <a:xfrm>
            <a:off x="1572960" y="3250000"/>
            <a:ext cx="432304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13D44"/>
                </a:solidFill>
                <a:latin typeface="Calibri" pitchFamily="34" charset="0"/>
              </a:rPr>
              <a:t>Karamveer working on app development</a:t>
            </a:r>
          </a:p>
        </p:txBody>
      </p:sp>
      <p:sp>
        <p:nvSpPr>
          <p:cNvPr id="9" name="Badge3"/>
          <p:cNvSpPr/>
          <p:nvPr/>
        </p:nvSpPr>
        <p:spPr>
          <a:xfrm>
            <a:off x="822960" y="4750000"/>
            <a:ext cx="500000" cy="500000"/>
          </a:xfrm>
          <a:prstGeom prst="ellipse">
            <a:avLst/>
          </a:prstGeom>
          <a:solidFill>
            <a:srgbClr val="1B7A8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10" name="Item3Text"/>
          <p:cNvSpPr txBox="1"/>
          <p:nvPr/>
        </p:nvSpPr>
        <p:spPr>
          <a:xfrm>
            <a:off x="1572960" y="4550000"/>
            <a:ext cx="432304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13D44"/>
                </a:solidFill>
                <a:latin typeface="Calibri" pitchFamily="34" charset="0"/>
              </a:rPr>
              <a:t>Structured, phase-wise plan for the upcoming app development</a:t>
            </a:r>
          </a:p>
        </p:txBody>
      </p:sp>
      <p:sp>
        <p:nvSpPr>
          <p:cNvPr id="11" name="Badge4"/>
          <p:cNvSpPr/>
          <p:nvPr/>
        </p:nvSpPr>
        <p:spPr>
          <a:xfrm>
            <a:off x="6296000" y="2150000"/>
            <a:ext cx="500000" cy="500000"/>
          </a:xfrm>
          <a:prstGeom prst="ellipse">
            <a:avLst/>
          </a:prstGeom>
          <a:solidFill>
            <a:srgbClr val="1B7A8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12" name="Item4Text"/>
          <p:cNvSpPr txBox="1"/>
          <p:nvPr/>
        </p:nvSpPr>
        <p:spPr>
          <a:xfrm>
            <a:off x="7046000" y="1950000"/>
            <a:ext cx="432304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13D44"/>
                </a:solidFill>
                <a:latin typeface="Calibri" pitchFamily="34" charset="0"/>
              </a:rPr>
              <a:t>Manas working on UI</a:t>
            </a:r>
          </a:p>
        </p:txBody>
      </p:sp>
      <p:sp>
        <p:nvSpPr>
          <p:cNvPr id="13" name="Badge5"/>
          <p:cNvSpPr/>
          <p:nvPr/>
        </p:nvSpPr>
        <p:spPr>
          <a:xfrm>
            <a:off x="6296000" y="3450000"/>
            <a:ext cx="500000" cy="500000"/>
          </a:xfrm>
          <a:prstGeom prst="ellipse">
            <a:avLst/>
          </a:prstGeom>
          <a:solidFill>
            <a:srgbClr val="1B7A8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14" name="Item5Text"/>
          <p:cNvSpPr txBox="1"/>
          <p:nvPr/>
        </p:nvSpPr>
        <p:spPr>
          <a:xfrm>
            <a:off x="7046000" y="3250000"/>
            <a:ext cx="432304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13D44"/>
                </a:solidFill>
                <a:latin typeface="Calibri" pitchFamily="34" charset="0"/>
              </a:rPr>
              <a:t>Dedicated team created for ML (model training, rebuilding the model from scratch) led by Mohit</a:t>
            </a:r>
          </a:p>
        </p:txBody>
      </p:sp>
      <p:sp>
        <p:nvSpPr>
          <p:cNvPr id="15" name="Badge6"/>
          <p:cNvSpPr/>
          <p:nvPr/>
        </p:nvSpPr>
        <p:spPr>
          <a:xfrm>
            <a:off x="6296000" y="4750000"/>
            <a:ext cx="500000" cy="500000"/>
          </a:xfrm>
          <a:prstGeom prst="ellipse">
            <a:avLst/>
          </a:prstGeom>
          <a:solidFill>
            <a:srgbClr val="1B7A8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16" name="Item6Text"/>
          <p:cNvSpPr txBox="1"/>
          <p:nvPr/>
        </p:nvSpPr>
        <p:spPr>
          <a:xfrm>
            <a:off x="7046000" y="4550000"/>
            <a:ext cx="432304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13D44"/>
                </a:solidFill>
                <a:latin typeface="Calibri" pitchFamily="34" charset="0"/>
              </a:rPr>
              <a:t>Restructured code for the better app development</a:t>
            </a:r>
          </a:p>
        </p:txBody>
      </p:sp>
      <p:sp>
        <p:nvSpPr>
          <p:cNvPr id="999" name="PageNum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</a:rPr>
              <a:t>05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35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generic replies to personalised clinical reasoning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rebuilt model, led by Mohit's dedicated ML team, now reasons over the patient's full clinical context.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43032" cy="566928"/>
          </a:xfrm>
          <a:prstGeom prst="roundRect">
            <a:avLst>
              <a:gd name="adj" fmla="val 19355"/>
            </a:avLst>
          </a:prstGeom>
          <a:solidFill>
            <a:srgbClr val="0F4A66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4884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input:  “I have fever.”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5074920" cy="3246120"/>
          </a:xfrm>
          <a:prstGeom prst="roundRect">
            <a:avLst>
              <a:gd name="adj" fmla="val 2817"/>
            </a:avLst>
          </a:prstGeom>
          <a:solidFill>
            <a:srgbClr val="0D3E56"/>
          </a:solidFill>
          <a:ln w="12700">
            <a:solidFill>
              <a:srgbClr val="1C5C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2278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363016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answer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4206240"/>
            <a:ext cx="4434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B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 history considered — the same advice for every patient, regardless of underlying conditions or medication.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971800"/>
            <a:ext cx="5074920" cy="3246120"/>
          </a:xfrm>
          <a:prstGeom prst="roundRect">
            <a:avLst>
              <a:gd name="adj" fmla="val 2817"/>
            </a:avLst>
          </a:prstGeom>
          <a:solidFill>
            <a:srgbClr val="0E5C52"/>
          </a:solidFill>
          <a:ln w="15875">
            <a:solidFill>
              <a:srgbClr val="2FC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32278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363016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advice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42519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85432" y="425196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4617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85432" y="46177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4983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85432" y="498348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glucose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53492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85432" y="53492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Penicillin allergy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57150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85432" y="57150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medicines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585216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E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weighs each of these before generating a response.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822960" y="365760"/>
            <a:ext cx="600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8C"/>
                </a:solidFill>
                <a:latin typeface="Calibri" pitchFamily="34" charset="0"/>
              </a:rPr>
              <a:t>PHASE 3 – SOURCE DIAGRAM</a:t>
            </a:r>
          </a:p>
        </p:txBody>
      </p:sp>
      <p:sp>
        <p:nvSpPr>
          <p:cNvPr id="3" name="Title"/>
          <p:cNvSpPr/>
          <p:nvPr/>
        </p:nvSpPr>
        <p:spPr>
          <a:xfrm>
            <a:off x="822960" y="685800"/>
            <a:ext cx="1054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552"/>
                </a:solidFill>
                <a:latin typeface="Calibri" pitchFamily="34" charset="0"/>
              </a:rPr>
              <a:t>Full Architecture Reference Diagram</a:t>
            </a:r>
          </a:p>
        </p:txBody>
      </p:sp>
      <p:pic>
        <p:nvPicPr>
          <p:cNvPr id="4" name="Architectur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000" y="1400000"/>
            <a:ext cx="7512000" cy="5008000"/>
          </a:xfrm>
          <a:prstGeom prst="rect">
            <a:avLst/>
          </a:prstGeom>
          <a:ln w="9525">
            <a:solidFill>
              <a:srgbClr val="D6E3E6"/>
            </a:solidFill>
          </a:ln>
        </p:spPr>
      </p:pic>
      <p:sp>
        <p:nvSpPr>
          <p:cNvPr id="999" name="PageNum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</a:rPr>
              <a:t>07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AI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57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Symptoms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715768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7157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History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3374136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37413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Reports &amp; Vitals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63240" y="2651760"/>
            <a:ext cx="457200" cy="0"/>
          </a:xfrm>
          <a:prstGeom prst="line">
            <a:avLst/>
          </a:prstGeom>
          <a:noFill/>
          <a:ln w="25400">
            <a:solidFill>
              <a:srgbClr val="1B7A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03320" y="1600200"/>
            <a:ext cx="44805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9050">
            <a:solidFill>
              <a:srgbClr val="1B7A8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03320" y="17830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PIPELINE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77640" y="2212848"/>
            <a:ext cx="3931920" cy="438912"/>
          </a:xfrm>
          <a:prstGeom prst="roundRect">
            <a:avLst>
              <a:gd name="adj" fmla="val 50000"/>
            </a:avLst>
          </a:prstGeom>
          <a:solidFill>
            <a:srgbClr val="E6F4F1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221284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Entity Extraction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2651760"/>
            <a:ext cx="0" cy="137160"/>
          </a:xfrm>
          <a:prstGeom prst="line">
            <a:avLst/>
          </a:prstGeom>
          <a:noFill/>
          <a:ln w="15875">
            <a:solidFill>
              <a:srgbClr val="1B7A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7640" y="2788920"/>
            <a:ext cx="3931920" cy="438912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/>
        </p:spPr>
      </p:sp>
      <p:sp>
        <p:nvSpPr>
          <p:cNvPr id="18" name="Text 16"/>
          <p:cNvSpPr/>
          <p:nvPr/>
        </p:nvSpPr>
        <p:spPr>
          <a:xfrm>
            <a:off x="4160520" y="278892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Rules Engine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3227832"/>
            <a:ext cx="0" cy="137160"/>
          </a:xfrm>
          <a:prstGeom prst="line">
            <a:avLst/>
          </a:prstGeom>
          <a:noFill/>
          <a:ln w="15875">
            <a:solidFill>
              <a:srgbClr val="1B7A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77640" y="3364992"/>
            <a:ext cx="3931920" cy="438912"/>
          </a:xfrm>
          <a:prstGeom prst="roundRect">
            <a:avLst>
              <a:gd name="adj" fmla="val 50000"/>
            </a:avLst>
          </a:prstGeom>
          <a:solidFill>
            <a:srgbClr val="E6F4F1"/>
          </a:solidFill>
          <a:ln/>
        </p:spPr>
      </p:sp>
      <p:sp>
        <p:nvSpPr>
          <p:cNvPr id="21" name="Text 19"/>
          <p:cNvSpPr/>
          <p:nvPr/>
        </p:nvSpPr>
        <p:spPr>
          <a:xfrm>
            <a:off x="4160520" y="336499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Engine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3803904"/>
            <a:ext cx="0" cy="137160"/>
          </a:xfrm>
          <a:prstGeom prst="line">
            <a:avLst/>
          </a:prstGeom>
          <a:noFill/>
          <a:ln w="15875">
            <a:solidFill>
              <a:srgbClr val="1B7A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77640" y="3941064"/>
            <a:ext cx="3931920" cy="438912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/>
        </p:spPr>
      </p:sp>
      <p:sp>
        <p:nvSpPr>
          <p:cNvPr id="24" name="Text 22"/>
          <p:cNvSpPr/>
          <p:nvPr/>
        </p:nvSpPr>
        <p:spPr>
          <a:xfrm>
            <a:off x="4160520" y="394106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Probability Engine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4379976"/>
            <a:ext cx="0" cy="137160"/>
          </a:xfrm>
          <a:prstGeom prst="line">
            <a:avLst/>
          </a:prstGeom>
          <a:noFill/>
          <a:ln w="15875">
            <a:solidFill>
              <a:srgbClr val="1B7A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77640" y="4517136"/>
            <a:ext cx="3931920" cy="438912"/>
          </a:xfrm>
          <a:prstGeom prst="roundRect">
            <a:avLst>
              <a:gd name="adj" fmla="val 50000"/>
            </a:avLst>
          </a:prstGeom>
          <a:solidFill>
            <a:srgbClr val="E6F4F1"/>
          </a:solidFill>
          <a:ln/>
        </p:spPr>
      </p:sp>
      <p:sp>
        <p:nvSpPr>
          <p:cNvPr id="27" name="Text 25"/>
          <p:cNvSpPr/>
          <p:nvPr/>
        </p:nvSpPr>
        <p:spPr>
          <a:xfrm>
            <a:off x="4160520" y="451713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Diagnosis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0" y="4956048"/>
            <a:ext cx="0" cy="137160"/>
          </a:xfrm>
          <a:prstGeom prst="line">
            <a:avLst/>
          </a:prstGeom>
          <a:noFill/>
          <a:ln w="15875">
            <a:solidFill>
              <a:srgbClr val="1B7A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77640" y="5093208"/>
            <a:ext cx="3931920" cy="438912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/>
        </p:spPr>
      </p:sp>
      <p:sp>
        <p:nvSpPr>
          <p:cNvPr id="30" name="Text 28"/>
          <p:cNvSpPr/>
          <p:nvPr/>
        </p:nvSpPr>
        <p:spPr>
          <a:xfrm>
            <a:off x="4160520" y="509320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Builder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83880" y="2651760"/>
            <a:ext cx="457200" cy="0"/>
          </a:xfrm>
          <a:prstGeom prst="line">
            <a:avLst/>
          </a:prstGeom>
          <a:noFill/>
          <a:ln w="25400">
            <a:solidFill>
              <a:srgbClr val="1B7A8C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900684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06840" y="20574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0A3552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0" y="20574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&amp; Triage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006840" y="271576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0A3552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0" y="271576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Diseases with Probability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006840" y="3374136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0A3552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0" y="3374136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43600" y="5897880"/>
            <a:ext cx="0" cy="228600"/>
          </a:xfrm>
          <a:prstGeom prst="line">
            <a:avLst/>
          </a:prstGeom>
          <a:noFill/>
          <a:ln w="19050">
            <a:solidFill>
              <a:srgbClr val="2FC3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37560" y="6126480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0D3E56"/>
          </a:solidFill>
          <a:ln/>
        </p:spPr>
      </p:sp>
      <p:sp>
        <p:nvSpPr>
          <p:cNvPr id="41" name="Text 39"/>
          <p:cNvSpPr/>
          <p:nvPr/>
        </p:nvSpPr>
        <p:spPr>
          <a:xfrm>
            <a:off x="3337560" y="61264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KNOWLEDGE BASE  —  Database &amp; Repositories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AI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—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2395728" cy="1234440"/>
          </a:xfrm>
          <a:prstGeom prst="roundRect">
            <a:avLst>
              <a:gd name="adj" fmla="val 6667"/>
            </a:avLst>
          </a:prstGeom>
          <a:solidFill>
            <a:srgbClr val="0A3552"/>
          </a:solidFill>
          <a:ln w="15875">
            <a:solidFill>
              <a:srgbClr val="0A3552"/>
            </a:solidFill>
            <a:prstDash val="solid"/>
          </a:ln>
          <a:effectLst>
            <a:outerShdw sx="100000" sy="100000" kx="0" ky="0" algn="bl" rotWithShape="0" blurRad="63500" dist="25400" dir="5400000">
              <a:srgbClr val="1A2B33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01368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2295144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Symptoms, history,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vitals, lab reports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18688" y="2308860"/>
            <a:ext cx="201168" cy="0"/>
          </a:xfrm>
          <a:prstGeom prst="line">
            <a:avLst/>
          </a:prstGeom>
          <a:noFill/>
          <a:ln w="25400">
            <a:solidFill>
              <a:srgbClr val="2FC3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19856" y="1691640"/>
            <a:ext cx="239572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B7A8C"/>
            </a:solidFill>
            <a:prstDash val="solid"/>
          </a:ln>
          <a:effectLst>
            <a:outerShdw sx="100000" sy="100000" kx="0" ky="0" algn="bl" rotWithShape="0" blurRad="63500" dist="25400" dir="5400000">
              <a:srgbClr val="1A2B3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57016" y="1801368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Entity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57016" y="2295144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Symptoms, entities,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negations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15584" y="2308860"/>
            <a:ext cx="201168" cy="0"/>
          </a:xfrm>
          <a:prstGeom prst="line">
            <a:avLst/>
          </a:prstGeom>
          <a:noFill/>
          <a:ln w="25400">
            <a:solidFill>
              <a:srgbClr val="2FC3A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16752" y="1691640"/>
            <a:ext cx="239572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B7A8C"/>
            </a:solidFill>
            <a:prstDash val="solid"/>
          </a:ln>
          <a:effectLst>
            <a:outerShdw sx="100000" sy="100000" kx="0" ky="0" algn="bl" rotWithShape="0" blurRad="63500" dist="25400" dir="5400000">
              <a:srgbClr val="1A2B33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53912" y="1801368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53912" y="2295144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matching, risk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factors, red flags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412480" y="2308860"/>
            <a:ext cx="201168" cy="0"/>
          </a:xfrm>
          <a:prstGeom prst="line">
            <a:avLst/>
          </a:prstGeom>
          <a:noFill/>
          <a:ln w="25400">
            <a:solidFill>
              <a:srgbClr val="2FC3A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613648" y="1691640"/>
            <a:ext cx="239572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B7A8C"/>
            </a:solidFill>
            <a:prstDash val="solid"/>
          </a:ln>
          <a:effectLst>
            <a:outerShdw sx="100000" sy="100000" kx="0" ky="0" algn="bl" rotWithShape="0" blurRad="63500" dist="25400" dir="5400000">
              <a:srgbClr val="1A2B33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50808" y="1801368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50808" y="2295144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care, routine,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urgent, emergency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811512" y="2926080"/>
            <a:ext cx="0" cy="502920"/>
          </a:xfrm>
          <a:prstGeom prst="line">
            <a:avLst/>
          </a:prstGeom>
          <a:noFill/>
          <a:ln w="25400">
            <a:solidFill>
              <a:srgbClr val="2FC3A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3429000"/>
            <a:ext cx="239572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B7A8C"/>
            </a:solidFill>
            <a:prstDash val="solid"/>
          </a:ln>
          <a:effectLst>
            <a:outerShdw sx="100000" sy="100000" kx="0" ky="0" algn="bl" rotWithShape="0" blurRad="63500" dist="25400" dir="5400000">
              <a:srgbClr val="1A2B33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3538728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0120" y="4032504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risks,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probabilities, alerts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18688" y="4046220"/>
            <a:ext cx="201168" cy="0"/>
          </a:xfrm>
          <a:prstGeom prst="line">
            <a:avLst/>
          </a:prstGeom>
          <a:noFill/>
          <a:ln w="25400">
            <a:solidFill>
              <a:srgbClr val="2FC3A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19856" y="3429000"/>
            <a:ext cx="239572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B7A8C"/>
            </a:solidFill>
            <a:prstDash val="solid"/>
          </a:ln>
          <a:effectLst>
            <a:outerShdw sx="100000" sy="100000" kx="0" ky="0" algn="bl" rotWithShape="0" blurRad="63500" dist="25400" dir="5400000">
              <a:srgbClr val="1A2B33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57016" y="3538728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557016" y="4032504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response,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15584" y="4046220"/>
            <a:ext cx="201168" cy="0"/>
          </a:xfrm>
          <a:prstGeom prst="line">
            <a:avLst/>
          </a:prstGeom>
          <a:noFill/>
          <a:ln w="25400">
            <a:solidFill>
              <a:srgbClr val="2FC3A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016752" y="3429000"/>
            <a:ext cx="239572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B7A8C"/>
            </a:solidFill>
            <a:prstDash val="solid"/>
          </a:ln>
          <a:effectLst>
            <a:outerShdw sx="100000" sy="100000" kx="0" ky="0" algn="bl" rotWithShape="0" blurRad="63500" dist="25400" dir="5400000">
              <a:srgbClr val="1A2B33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53912" y="3538728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153912" y="4032504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possible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412480" y="4046220"/>
            <a:ext cx="201168" cy="0"/>
          </a:xfrm>
          <a:prstGeom prst="line">
            <a:avLst/>
          </a:prstGeom>
          <a:noFill/>
          <a:ln w="25400">
            <a:solidFill>
              <a:srgbClr val="2FC3A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613648" y="3429000"/>
            <a:ext cx="2395728" cy="1234440"/>
          </a:xfrm>
          <a:prstGeom prst="roundRect">
            <a:avLst>
              <a:gd name="adj" fmla="val 6667"/>
            </a:avLst>
          </a:prstGeom>
          <a:solidFill>
            <a:srgbClr val="0A3552"/>
          </a:solidFill>
          <a:ln w="15875">
            <a:solidFill>
              <a:srgbClr val="0A3552"/>
            </a:solidFill>
            <a:prstDash val="solid"/>
          </a:ln>
          <a:effectLst>
            <a:outerShdw sx="100000" sy="100000" kx="0" ky="0" algn="bl" rotWithShape="0" blurRad="63500" dist="25400" dir="5400000">
              <a:srgbClr val="1A2B33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750808" y="3538728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Probability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750808" y="4032504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diseases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probability 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narrows the picture — from raw patient language down to a ranked, explainable clinical output.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anchor="ctr" lIns="137160" rIns="109728" tIns="137160" bIns="10972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200">
                <a:solidFill>
                  <a:srgbClr val="1B7A8C"/>
                </a:solidFill>
                <a:latin typeface="Calibri"/>
              </a:rPr>
              <a:t>TEAM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75488"/>
            <a:ext cx="10058400" cy="457200"/>
          </a:xfrm>
          <a:prstGeom prst="rect">
            <a:avLst/>
          </a:prstGeom>
          <a:noFill/>
        </p:spPr>
        <p:txBody>
          <a:bodyPr wrap="square" anchor="ctr" lIns="137160" rIns="109728" tIns="137160" bIns="10972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A3552"/>
                </a:solidFill>
                <a:latin typeface="Calibri"/>
              </a:rPr>
              <a:t>How We Built HealTrack.AI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0515600" cy="292608"/>
          </a:xfrm>
          <a:prstGeom prst="rect">
            <a:avLst/>
          </a:prstGeom>
          <a:noFill/>
        </p:spPr>
        <p:txBody>
          <a:bodyPr wrap="square" anchor="ctr" lIns="137160" rIns="109728" tIns="137160" bIns="10972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B75"/>
                </a:solidFill>
                <a:latin typeface="Calibri"/>
              </a:rPr>
              <a:t>Six teammates, two focused groups, one shared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91356" y="1261872"/>
            <a:ext cx="420624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8"/>
            </a:solidFill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A3552"/>
                </a:solidFill>
                <a:latin typeface="Calibri"/>
              </a:rPr>
              <a:t>Deepinder Singh</a:t>
            </a:r>
          </a:p>
          <a:p>
            <a:pPr algn="ctr">
              <a:spcAft>
                <a:spcPts val="300"/>
              </a:spcAft>
            </a:pPr>
            <a:r>
              <a:rPr sz="1050" b="1" spc="80">
                <a:solidFill>
                  <a:srgbClr val="2FC3A6"/>
                </a:solidFill>
                <a:latin typeface="Calibri"/>
              </a:rPr>
              <a:t>TEAM LEAD</a:t>
            </a:r>
          </a:p>
          <a:p>
            <a:pPr algn="ctr"/>
            <a:r>
              <a:rPr sz="1100" b="0">
                <a:solidFill>
                  <a:srgbClr val="5B6B75"/>
                </a:solidFill>
                <a:latin typeface="Calibri"/>
              </a:rPr>
              <a:t>Contributed across every part of the website.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4476" y="1883664"/>
            <a:ext cx="0" cy="164592"/>
          </a:xfrm>
          <a:prstGeom prst="line">
            <a:avLst/>
          </a:prstGeom>
          <a:ln w="22225">
            <a:solidFill>
              <a:srgbClr val="0A3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154680" y="2048256"/>
            <a:ext cx="5865876" cy="0"/>
          </a:xfrm>
          <a:prstGeom prst="line">
            <a:avLst/>
          </a:prstGeom>
          <a:ln w="22225">
            <a:solidFill>
              <a:srgbClr val="0A3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54680" y="2048256"/>
            <a:ext cx="0" cy="164592"/>
          </a:xfrm>
          <a:prstGeom prst="line">
            <a:avLst/>
          </a:prstGeom>
          <a:ln w="22225">
            <a:solidFill>
              <a:srgbClr val="0A35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020556" y="2048256"/>
            <a:ext cx="0" cy="164592"/>
          </a:xfrm>
          <a:prstGeom prst="line">
            <a:avLst/>
          </a:prstGeom>
          <a:ln w="22225">
            <a:solidFill>
              <a:srgbClr val="0A35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212848"/>
            <a:ext cx="5303520" cy="384048"/>
          </a:xfrm>
          <a:prstGeom prst="roundRect">
            <a:avLst>
              <a:gd name="adj" fmla="val 30000"/>
            </a:avLst>
          </a:prstGeom>
          <a:solidFill>
            <a:srgbClr val="1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37160" bIns="109728"/>
          <a:lstStyle/>
          <a:p>
            <a:pPr algn="ctr">
              <a:spcAft>
                <a:spcPts val="0"/>
              </a:spcAft>
            </a:pPr>
            <a:r>
              <a:rPr sz="1200" b="1" spc="100">
                <a:solidFill>
                  <a:srgbClr val="FFFFFF"/>
                </a:solidFill>
                <a:latin typeface="Calibri"/>
              </a:rPr>
              <a:t>FULL-STACK &amp; PLATFORM 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12848"/>
            <a:ext cx="5330952" cy="384048"/>
          </a:xfrm>
          <a:prstGeom prst="roundRect">
            <a:avLst>
              <a:gd name="adj" fmla="val 30000"/>
            </a:avLst>
          </a:prstGeom>
          <a:solidFill>
            <a:srgbClr val="0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37160" bIns="109728"/>
          <a:lstStyle/>
          <a:p>
            <a:pPr algn="ctr">
              <a:spcAft>
                <a:spcPts val="0"/>
              </a:spcAft>
            </a:pPr>
            <a:r>
              <a:rPr sz="1200" b="1" spc="100">
                <a:solidFill>
                  <a:srgbClr val="FFFFFF"/>
                </a:solidFill>
                <a:latin typeface="Calibri"/>
              </a:rPr>
              <a:t>AI / ML 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43200"/>
            <a:ext cx="25146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8"/>
            </a:solidFill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A3552"/>
                </a:solidFill>
                <a:latin typeface="Calibri"/>
              </a:rPr>
              <a:t>Manas</a:t>
            </a:r>
          </a:p>
          <a:p>
            <a:pPr algn="l">
              <a:spcAft>
                <a:spcPts val="300"/>
              </a:spcAft>
            </a:pPr>
            <a:r>
              <a:rPr sz="950" b="1" spc="80">
                <a:solidFill>
                  <a:srgbClr val="1B7A8C"/>
                </a:solidFill>
                <a:latin typeface="Calibri"/>
              </a:rPr>
              <a:t>UI DEVELOPMENT</a:t>
            </a:r>
          </a:p>
          <a:p>
            <a:pPr algn="l"/>
            <a:r>
              <a:rPr sz="1000" b="0">
                <a:solidFill>
                  <a:srgbClr val="5B6B75"/>
                </a:solidFill>
                <a:latin typeface="Calibri"/>
              </a:rPr>
              <a:t>Designed and built the app's user interface.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39" y="2743200"/>
            <a:ext cx="25146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8"/>
            </a:solidFill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A3552"/>
                </a:solidFill>
                <a:latin typeface="Calibri"/>
              </a:rPr>
              <a:t>Karamveer Chaudhary</a:t>
            </a:r>
          </a:p>
          <a:p>
            <a:pPr algn="l">
              <a:spcAft>
                <a:spcPts val="300"/>
              </a:spcAft>
            </a:pPr>
            <a:r>
              <a:rPr sz="950" b="1" spc="80">
                <a:solidFill>
                  <a:srgbClr val="1B7A8C"/>
                </a:solidFill>
                <a:latin typeface="Calibri"/>
              </a:rPr>
              <a:t>APP DEVELOPMENT</a:t>
            </a:r>
          </a:p>
          <a:p>
            <a:pPr algn="l"/>
            <a:r>
              <a:rPr sz="1000" b="0">
                <a:solidFill>
                  <a:srgbClr val="5B6B75"/>
                </a:solidFill>
                <a:latin typeface="Calibri"/>
              </a:rPr>
              <a:t>Built the app's core features and functionality.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760220" y="2596896"/>
            <a:ext cx="1394460" cy="146304"/>
          </a:xfrm>
          <a:prstGeom prst="line">
            <a:avLst/>
          </a:prstGeom>
          <a:ln w="22225">
            <a:solidFill>
              <a:srgbClr val="1B7A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154680" y="2596896"/>
            <a:ext cx="1394460" cy="146304"/>
          </a:xfrm>
          <a:prstGeom prst="line">
            <a:avLst/>
          </a:prstGeom>
          <a:ln w="22225">
            <a:solidFill>
              <a:srgbClr val="1B7A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60220" y="3520440"/>
            <a:ext cx="0" cy="2313432"/>
          </a:xfrm>
          <a:prstGeom prst="line">
            <a:avLst/>
          </a:prstGeom>
          <a:ln w="22225">
            <a:solidFill>
              <a:srgbClr val="1B7A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49140" y="3520440"/>
            <a:ext cx="0" cy="2313432"/>
          </a:xfrm>
          <a:prstGeom prst="line">
            <a:avLst/>
          </a:prstGeom>
          <a:ln w="22225">
            <a:solidFill>
              <a:srgbClr val="1B7A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55080" y="2743200"/>
            <a:ext cx="53309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8"/>
            </a:solidFill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A3552"/>
                </a:solidFill>
                <a:latin typeface="Calibri"/>
              </a:rPr>
              <a:t>Vemula Architha</a:t>
            </a:r>
          </a:p>
          <a:p>
            <a:pPr algn="l">
              <a:spcAft>
                <a:spcPts val="300"/>
              </a:spcAft>
            </a:pPr>
            <a:r>
              <a:rPr sz="950" b="1" spc="80">
                <a:solidFill>
                  <a:srgbClr val="0A3552"/>
                </a:solidFill>
                <a:latin typeface="Calibri"/>
              </a:rPr>
              <a:t>MEDICAL KNOWLEDGE BASE ENGINEER</a:t>
            </a:r>
          </a:p>
          <a:p>
            <a:pPr algn="l"/>
            <a:r>
              <a:rPr sz="1000" b="0">
                <a:solidFill>
                  <a:srgbClr val="5B6B75"/>
                </a:solidFill>
                <a:latin typeface="Calibri"/>
              </a:rPr>
              <a:t>Built the disease, medication &amp; lab reference database.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666744"/>
            <a:ext cx="5330952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8"/>
            </a:solidFill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A3552"/>
                </a:solidFill>
                <a:latin typeface="Calibri"/>
              </a:rPr>
              <a:t>Richa Roy</a:t>
            </a:r>
          </a:p>
          <a:p>
            <a:pPr algn="l">
              <a:spcAft>
                <a:spcPts val="300"/>
              </a:spcAft>
            </a:pPr>
            <a:r>
              <a:rPr sz="950" b="1" spc="80">
                <a:solidFill>
                  <a:srgbClr val="0A3552"/>
                </a:solidFill>
                <a:latin typeface="Calibri"/>
              </a:rPr>
              <a:t>AI / ML ENGINEER — NLU</a:t>
            </a:r>
          </a:p>
          <a:p>
            <a:pPr algn="l"/>
            <a:r>
              <a:rPr sz="1000" b="0">
                <a:solidFill>
                  <a:srgbClr val="5B6B75"/>
                </a:solidFill>
                <a:latin typeface="Calibri"/>
              </a:rPr>
              <a:t>Advanced NLP: negation, duration &amp; symptom extraction.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562856"/>
            <a:ext cx="5330952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8"/>
            </a:solidFill>
          </a:ln>
          <a:effectLst>
            <a:outerShdw sx="100000" sy="100000" kx="0" ky="0" algn="bl" rotWithShape="0" blurRad="76200" dist="25400" dir="5400000">
              <a:srgbClr val="1A2B3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A3552"/>
                </a:solidFill>
                <a:latin typeface="Calibri"/>
              </a:rPr>
              <a:t>Mohit Kumar</a:t>
            </a:r>
          </a:p>
          <a:p>
            <a:pPr algn="l">
              <a:spcAft>
                <a:spcPts val="300"/>
              </a:spcAft>
            </a:pPr>
            <a:r>
              <a:rPr sz="950" b="1" spc="80">
                <a:solidFill>
                  <a:srgbClr val="0A3552"/>
                </a:solidFill>
                <a:latin typeface="Calibri"/>
              </a:rPr>
              <a:t>AI PIPELINE ENGINEER</a:t>
            </a:r>
          </a:p>
          <a:p>
            <a:pPr algn="l"/>
            <a:r>
              <a:rPr sz="1000" b="0">
                <a:solidFill>
                  <a:srgbClr val="5B6B75"/>
                </a:solidFill>
                <a:latin typeface="Calibri"/>
              </a:rPr>
              <a:t>Built the clinical rule, triage &amp; diagnosis pipeline.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20556" y="2596896"/>
            <a:ext cx="0" cy="146304"/>
          </a:xfrm>
          <a:prstGeom prst="line">
            <a:avLst/>
          </a:prstGeom>
          <a:ln w="22225">
            <a:solidFill>
              <a:srgbClr val="0A35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20556" y="3520440"/>
            <a:ext cx="0" cy="146304"/>
          </a:xfrm>
          <a:prstGeom prst="line">
            <a:avLst/>
          </a:prstGeom>
          <a:ln w="22225">
            <a:solidFill>
              <a:srgbClr val="0A35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20556" y="4416552"/>
            <a:ext cx="0" cy="146304"/>
          </a:xfrm>
          <a:prstGeom prst="line">
            <a:avLst/>
          </a:prstGeom>
          <a:ln w="22225">
            <a:solidFill>
              <a:srgbClr val="0A35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20556" y="5312664"/>
            <a:ext cx="0" cy="521208"/>
          </a:xfrm>
          <a:prstGeom prst="line">
            <a:avLst/>
          </a:prstGeom>
          <a:ln w="22225">
            <a:solidFill>
              <a:srgbClr val="0A35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2920" y="5833872"/>
            <a:ext cx="11183112" cy="603504"/>
          </a:xfrm>
          <a:prstGeom prst="roundRect">
            <a:avLst>
              <a:gd name="adj" fmla="val 22000"/>
            </a:avLst>
          </a:prstGeom>
          <a:solidFill>
            <a:srgbClr val="2FC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1350" b="1" spc="80">
                <a:solidFill>
                  <a:srgbClr val="0A3552"/>
                </a:solidFill>
                <a:latin typeface="Calibri"/>
              </a:rPr>
              <a:t>HEALTRACK.AI — UNIFIED PLATFORM</a:t>
            </a:r>
          </a:p>
          <a:p>
            <a:pPr algn="ctr"/>
            <a:r>
              <a:rPr sz="1050" b="0">
                <a:solidFill>
                  <a:srgbClr val="0A3552"/>
                </a:solidFill>
                <a:latin typeface="Calibri"/>
              </a:rPr>
              <a:t>Two tracks, six teammates, one shipped product.</a:t>
            </a:r>
          </a:p>
        </p:txBody>
      </p:sp>
      <p:sp>
        <p:nvSpPr>
          <p:cNvPr id="999" name="PageNum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35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B7A8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4572000" cy="4572000"/>
          </a:xfrm>
          <a:prstGeom prst="ellipse">
            <a:avLst/>
          </a:prstGeom>
          <a:solidFill>
            <a:srgbClr val="2FC3A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production-ready Clinical AI Engine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advanced NLP, a strong medical knowledge base, and intelligent decision-making — delivered in Phase 3.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F4A66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34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NLP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44348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0F4A66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4434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Knowledge Base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443484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0F4A66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4434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Decisioning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92440" y="44348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F4A66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4434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Delivery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ReadyNest  ·  Team CodeTitans  ·  HealTrackAI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HealTrackAI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HealTrackAI - Phase 3 Update</dc:title>
  <dc:subject>HealTrackAI Clinical AI Engine - Platform Update</dc:subject>
  <dc:creator>HealTrackAI Team</dc:creator>
  <cp:lastModifiedBy>HealTrackAI Team</cp:lastModifiedBy>
  <cp:revision>4</cp:revision>
  <dcterms:created xsi:type="dcterms:W3CDTF">2026-07-08T09:14:00Z</dcterms:created>
  <dcterms:modified xsi:type="dcterms:W3CDTF">2026-07-10T18:52:00Z</dcterms:modified>
</cp:coreProperties>
</file>